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1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1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tags" Target="../tags/tag7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82245" y="1527810"/>
            <a:ext cx="5913120" cy="2395855"/>
          </a:xfrm>
        </p:spPr>
        <p:txBody>
          <a:bodyPr>
            <a:normAutofit/>
          </a:bodyPr>
          <a:p>
            <a:r>
              <a:rPr lang="vi-VN" altLang="en-US">
                <a:solidFill>
                  <a:schemeClr val="accent5">
                    <a:lumMod val="50000"/>
                  </a:schemeClr>
                </a:solidFill>
              </a:rPr>
              <a:t>Báo cáo lỗ lãi</a:t>
            </a:r>
            <a:r>
              <a:rPr lang="vi-VN" altLang="en-US">
                <a:solidFill>
                  <a:schemeClr val="accent5"/>
                </a:solidFill>
              </a:rPr>
              <a:t> </a:t>
            </a:r>
            <a:br>
              <a:rPr lang="vi-VN" altLang="en-US">
                <a:solidFill>
                  <a:schemeClr val="accent5"/>
                </a:solidFill>
              </a:rPr>
            </a:br>
            <a:r>
              <a:rPr lang="vi-VN" altLang="en-US">
                <a:solidFill>
                  <a:schemeClr val="accent5"/>
                </a:solidFill>
              </a:rPr>
              <a:t>tháng 5/2024</a:t>
            </a:r>
            <a:endParaRPr lang="vi-VN" altLang="en-US">
              <a:solidFill>
                <a:schemeClr val="accent5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785" y="0"/>
            <a:ext cx="5981065" cy="68586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p>
            <a:r>
              <a:rPr lang="vi-VN" altLang="en-US">
                <a:solidFill>
                  <a:schemeClr val="accent6">
                    <a:lumMod val="75000"/>
                  </a:schemeClr>
                </a:solidFill>
              </a:rPr>
              <a:t>Tổng quan kết quả </a:t>
            </a:r>
            <a:endParaRPr lang="vi-V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Content Placeholder 4"/>
          <p:cNvSpPr/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2369820" cy="4759325"/>
          </a:xfrm>
        </p:spPr>
        <p:txBody>
          <a:bodyPr/>
          <a:p>
            <a:pPr marL="0" indent="0">
              <a:buNone/>
            </a:pPr>
            <a:endParaRPr lang="vi-VN" altLang="en-US"/>
          </a:p>
          <a:p>
            <a:pPr marL="0" indent="0">
              <a:buNone/>
            </a:pPr>
            <a:endParaRPr lang="vi-VN" altLang="en-US"/>
          </a:p>
          <a:p>
            <a:pPr marL="0" indent="0">
              <a:buNone/>
            </a:pPr>
            <a:endParaRPr lang="vi-VN" altLang="en-US"/>
          </a:p>
          <a:p>
            <a:pPr marL="0" indent="0">
              <a:buNone/>
            </a:pPr>
            <a:endParaRPr lang="vi-VN" altLang="en-US"/>
          </a:p>
          <a:p>
            <a:pPr marL="0" indent="0">
              <a:buNone/>
            </a:pPr>
            <a:r>
              <a:rPr lang="vi-VN" altLang="en-US">
                <a:solidFill>
                  <a:schemeClr val="accent5"/>
                </a:solidFill>
              </a:rPr>
              <a:t>Doanh thu thuần </a:t>
            </a:r>
            <a:endParaRPr lang="vi-VN" altLang="en-US"/>
          </a:p>
          <a:p>
            <a:pPr marL="0" indent="0">
              <a:buNone/>
            </a:pPr>
            <a:r>
              <a:rPr lang="vi-VN" altLang="en-US"/>
              <a:t>12,45 Tỷ </a:t>
            </a:r>
            <a:r>
              <a:rPr lang="vi-VN" altLang="en-US"/>
              <a:t>VND</a:t>
            </a:r>
            <a:endParaRPr lang="vi-VN" altLang="en-US"/>
          </a:p>
          <a:p>
            <a:pPr marL="0" indent="0">
              <a:buNone/>
            </a:pPr>
            <a:r>
              <a:rPr lang="vi-VN" altLang="en-US"/>
              <a:t>+18,</a:t>
            </a:r>
            <a:r>
              <a:rPr lang="vi-VN" altLang="en-US"/>
              <a:t>6%</a:t>
            </a:r>
            <a:endParaRPr lang="vi-VN" altLang="en-US"/>
          </a:p>
          <a:p>
            <a:pPr marL="0" indent="0">
              <a:buNone/>
            </a:pPr>
            <a:r>
              <a:rPr lang="vi-VN" altLang="en-US"/>
              <a:t>so với T4/</a:t>
            </a:r>
            <a:r>
              <a:rPr lang="vi-VN" altLang="en-US"/>
              <a:t>2024</a:t>
            </a:r>
            <a:endParaRPr lang="vi-VN" altLang="en-US"/>
          </a:p>
          <a:p>
            <a:endParaRPr lang="vi-V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41170"/>
            <a:ext cx="1766570" cy="183705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6435" y="1863090"/>
            <a:ext cx="1993900" cy="401447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3928110" y="3578225"/>
            <a:ext cx="22352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solidFill>
                  <a:schemeClr val="accent4">
                    <a:lumMod val="50000"/>
                  </a:schemeClr>
                </a:solidFill>
              </a:rPr>
              <a:t>Tổng chi phí </a:t>
            </a:r>
            <a:endParaRPr lang="vi-VN" altLang="en-US">
              <a:solidFill>
                <a:schemeClr val="accent4">
                  <a:lumMod val="50000"/>
                </a:schemeClr>
              </a:solidFill>
            </a:endParaRPr>
          </a:p>
          <a:p>
            <a:endParaRPr lang="vi-VN" altLang="en-US"/>
          </a:p>
          <a:p>
            <a:r>
              <a:rPr lang="vi-VN" altLang="en-US"/>
              <a:t>7,28 Tỷ </a:t>
            </a:r>
            <a:r>
              <a:rPr lang="vi-VN" altLang="en-US"/>
              <a:t>VND</a:t>
            </a:r>
            <a:endParaRPr lang="vi-VN" altLang="en-US"/>
          </a:p>
          <a:p>
            <a:endParaRPr lang="vi-VN" altLang="en-US"/>
          </a:p>
          <a:p>
            <a:r>
              <a:rPr lang="vi-VN" altLang="en-US"/>
              <a:t>+12,</a:t>
            </a:r>
            <a:r>
              <a:rPr lang="vi-VN" altLang="en-US"/>
              <a:t>1%</a:t>
            </a:r>
            <a:endParaRPr lang="vi-VN" altLang="en-US"/>
          </a:p>
          <a:p>
            <a:endParaRPr lang="vi-VN" altLang="en-US"/>
          </a:p>
          <a:p>
            <a:r>
              <a:rPr lang="vi-VN" altLang="en-US"/>
              <a:t>so với T4/</a:t>
            </a:r>
            <a:r>
              <a:rPr lang="vi-VN" altLang="en-US"/>
              <a:t>2024</a:t>
            </a:r>
            <a:endParaRPr lang="vi-VN" alt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9485" y="1945005"/>
            <a:ext cx="2370455" cy="14274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9970" y="1901190"/>
            <a:ext cx="2230120" cy="405447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6918960" y="3578225"/>
            <a:ext cx="212407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solidFill>
                  <a:srgbClr val="7030A0"/>
                </a:solidFill>
              </a:rPr>
              <a:t>Lợi nhuận gộp</a:t>
            </a:r>
            <a:endParaRPr lang="vi-VN" altLang="en-US"/>
          </a:p>
          <a:p>
            <a:endParaRPr lang="vi-VN" altLang="en-US"/>
          </a:p>
          <a:p>
            <a:r>
              <a:rPr lang="vi-VN" altLang="en-US"/>
              <a:t>5,</a:t>
            </a:r>
            <a:r>
              <a:rPr lang="vi-VN" altLang="en-US"/>
              <a:t>17 Tỷ </a:t>
            </a:r>
            <a:r>
              <a:rPr lang="vi-VN" altLang="en-US"/>
              <a:t>VND</a:t>
            </a:r>
            <a:endParaRPr lang="vi-VN" altLang="en-US"/>
          </a:p>
          <a:p>
            <a:endParaRPr lang="vi-VN" altLang="en-US"/>
          </a:p>
          <a:p>
            <a:r>
              <a:rPr lang="vi-VN" altLang="en-US"/>
              <a:t>+27,</a:t>
            </a:r>
            <a:r>
              <a:rPr lang="vi-VN" altLang="en-US"/>
              <a:t>4%</a:t>
            </a:r>
            <a:endParaRPr lang="vi-VN" altLang="en-US"/>
          </a:p>
          <a:p>
            <a:endParaRPr lang="vi-VN" altLang="en-US"/>
          </a:p>
          <a:p>
            <a:r>
              <a:rPr lang="vi-VN" altLang="en-US"/>
              <a:t>so với T4/</a:t>
            </a:r>
            <a:r>
              <a:rPr lang="vi-VN" altLang="en-US"/>
              <a:t>2024</a:t>
            </a:r>
            <a:endParaRPr lang="vi-VN" altLang="en-US"/>
          </a:p>
        </p:txBody>
      </p:sp>
      <p:sp>
        <p:nvSpPr>
          <p:cNvPr id="24" name="Rounded Rectangle 23"/>
          <p:cNvSpPr/>
          <p:nvPr/>
        </p:nvSpPr>
        <p:spPr>
          <a:xfrm>
            <a:off x="6689725" y="1945005"/>
            <a:ext cx="2468245" cy="406209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4675" y="2014855"/>
            <a:ext cx="1956435" cy="1428115"/>
          </a:xfrm>
          <a:prstGeom prst="rect">
            <a:avLst/>
          </a:prstGeom>
        </p:spPr>
      </p:pic>
      <p:sp>
        <p:nvSpPr>
          <p:cNvPr id="26" name="Text Box 25"/>
          <p:cNvSpPr txBox="1"/>
          <p:nvPr/>
        </p:nvSpPr>
        <p:spPr>
          <a:xfrm>
            <a:off x="9798050" y="3578225"/>
            <a:ext cx="239395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solidFill>
                  <a:schemeClr val="accent2"/>
                </a:solidFill>
              </a:rPr>
              <a:t>Lợi nhuận sau thuế</a:t>
            </a:r>
            <a:endParaRPr lang="vi-VN" altLang="en-US">
              <a:solidFill>
                <a:schemeClr val="accent2"/>
              </a:solidFill>
            </a:endParaRPr>
          </a:p>
          <a:p>
            <a:endParaRPr lang="vi-VN" altLang="en-US"/>
          </a:p>
          <a:p>
            <a:r>
              <a:rPr lang="vi-VN" altLang="en-US"/>
              <a:t>2,89 Tỷ </a:t>
            </a:r>
            <a:r>
              <a:rPr lang="vi-VN" altLang="en-US"/>
              <a:t>VND</a:t>
            </a:r>
            <a:endParaRPr lang="vi-VN" altLang="en-US"/>
          </a:p>
          <a:p>
            <a:endParaRPr lang="vi-VN" altLang="en-US"/>
          </a:p>
          <a:p>
            <a:r>
              <a:rPr lang="vi-VN" altLang="en-US"/>
              <a:t>+31,</a:t>
            </a:r>
            <a:r>
              <a:rPr lang="vi-VN" altLang="en-US"/>
              <a:t>2%</a:t>
            </a:r>
            <a:endParaRPr lang="vi-VN" altLang="en-US"/>
          </a:p>
          <a:p>
            <a:endParaRPr lang="vi-VN" altLang="en-US"/>
          </a:p>
          <a:p>
            <a:r>
              <a:rPr lang="vi-VN" altLang="en-US"/>
              <a:t>so với T4/</a:t>
            </a:r>
            <a:r>
              <a:rPr lang="vi-VN" altLang="en-US"/>
              <a:t>2024</a:t>
            </a:r>
            <a:endParaRPr lang="vi-VN" altLang="en-US"/>
          </a:p>
        </p:txBody>
      </p:sp>
      <p:sp>
        <p:nvSpPr>
          <p:cNvPr id="27" name="Rounded Rectangle 26"/>
          <p:cNvSpPr/>
          <p:nvPr/>
        </p:nvSpPr>
        <p:spPr>
          <a:xfrm>
            <a:off x="9728835" y="1885950"/>
            <a:ext cx="2425700" cy="406971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5695" y="1996440"/>
            <a:ext cx="1814830" cy="158178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p>
            <a:r>
              <a:rPr lang="vi-VN" altLang="en-US">
                <a:solidFill>
                  <a:schemeClr val="accent1">
                    <a:lumMod val="75000"/>
                  </a:schemeClr>
                </a:solidFill>
              </a:rPr>
              <a:t>Doanh thu </a:t>
            </a:r>
            <a:endParaRPr lang="vi-V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3"/>
            </p:custDataLst>
          </p:nvPr>
        </p:nvSpPr>
        <p:spPr/>
        <p:txBody>
          <a:bodyPr/>
          <a:p>
            <a:r>
              <a:rPr lang="vi-VN" altLang="en-US">
                <a:solidFill>
                  <a:schemeClr val="accent5">
                    <a:lumMod val="75000"/>
                  </a:schemeClr>
                </a:solidFill>
              </a:rPr>
              <a:t>Cơ cấu chi phí </a:t>
            </a:r>
            <a:endParaRPr lang="vi-VN" altLang="en-US">
              <a:solidFill>
                <a:schemeClr val="accent5">
                  <a:lumMod val="75000"/>
                </a:schemeClr>
              </a:solidFill>
            </a:endParaRPr>
          </a:p>
          <a:p>
            <a:endParaRPr lang="vi-VN" altLang="en-US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Content Placeholder 6"/>
          <p:cNvPicPr>
            <a:picLocks noChangeAspect="1"/>
          </p:cNvPicPr>
          <p:nvPr>
            <p:ph sz="quarter" idx="4"/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31800" y="1854200"/>
            <a:ext cx="4865370" cy="43954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0585" y="1854835"/>
            <a:ext cx="5626735" cy="439547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WPS Presentation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Microsoft YaHei</vt:lpstr>
      <vt:lpstr>MS PGothic</vt:lpstr>
      <vt:lpstr>Arial Unicode MS</vt:lpstr>
      <vt:lpstr>Calibri</vt:lpstr>
      <vt:lpstr>Times New Roman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lỗ lãi  tháng 5/2024</dc:title>
  <dc:creator>GIGA</dc:creator>
  <cp:lastModifiedBy>vũ nguyễn</cp:lastModifiedBy>
  <cp:revision>1</cp:revision>
  <dcterms:created xsi:type="dcterms:W3CDTF">2026-10-26T06:02:45Z</dcterms:created>
  <dcterms:modified xsi:type="dcterms:W3CDTF">2026-10-26T06:02:45Z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36EE9D58D57C45FABCEA99DB12E8C914_11</vt:lpwstr>
  </property>
</Properties>
</file>